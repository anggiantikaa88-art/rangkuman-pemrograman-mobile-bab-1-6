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710"/>
            <a:ext cx="8229600" cy="521335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800" b="1">
                <a:solidFill>
                  <a:schemeClr val="bg1"/>
                </a:solidFill>
              </a:rPr>
              <a:t>PEMROGRAMAN MOBILE II  /  ANDROID  /  JAVA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RANGKUMAN ENAM BAB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1444752"/>
            <a:ext cx="82296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58952" y="2093976"/>
            <a:ext cx="8229600" cy="6766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ANDROID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58952" y="2788920"/>
            <a:ext cx="731520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DENGAN JAVA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4672" y="3886200"/>
            <a:ext cx="790956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materi Bab 1–6 • Berdasarkan modul Erma Susanti (2020)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51392" y="1325880"/>
            <a:ext cx="2057400" cy="411480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70264" y="1527048"/>
            <a:ext cx="1819656" cy="369417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33204" y="140817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25712" y="181965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25712" y="256032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25712" y="301752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25712" y="347472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25712" y="425196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ounded Rectangle 26"/>
          <p:cNvSpPr/>
          <p:nvPr/>
        </p:nvSpPr>
        <p:spPr>
          <a:xfrm>
            <a:off x="749808" y="4736592"/>
            <a:ext cx="7635240" cy="1307592"/>
          </a:xfrm>
          <a:prstGeom prst="roundRect">
            <a:avLst/>
          </a:prstGeom>
          <a:solidFill>
            <a:srgbClr val="462C22"/>
          </a:solidFill>
          <a:ln>
            <a:solidFill>
              <a:srgbClr val="C2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828032"/>
            <a:ext cx="7242048" cy="26517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00" b="1">
                <a:solidFill>
                  <a:srgbClr val="FBEAD4"/>
                </a:solidFill>
                <a:latin typeface="Aptos"/>
              </a:defRPr>
            </a:pPr>
            <a:r>
              <a:t>Nama  :  Anggi Antika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106924"/>
            <a:ext cx="7242048" cy="26517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00" b="0">
                <a:solidFill>
                  <a:srgbClr val="FBEAD4"/>
                </a:solidFill>
                <a:latin typeface="Aptos"/>
              </a:defRPr>
            </a:pPr>
            <a:r>
              <a:t>NIM  :  2302218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385816"/>
            <a:ext cx="7242048" cy="26517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00" b="0">
                <a:solidFill>
                  <a:srgbClr val="FBEAD4"/>
                </a:solidFill>
                <a:latin typeface="Aptos"/>
              </a:defRPr>
            </a:pPr>
            <a:r>
              <a:t>Mata Kuliah  :  Pemrograman Web 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664708"/>
            <a:ext cx="7242048" cy="26517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00" b="0">
                <a:solidFill>
                  <a:srgbClr val="FBEAD4"/>
                </a:solidFill>
                <a:latin typeface="Aptos"/>
              </a:defRPr>
            </a:pPr>
            <a:r>
              <a:t>Dosen Pengampu  :  Abdi Rahim Damanik, M.Kom.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PEMBELAJARAN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GAMBARAN UMUM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materi Bab 1–6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8368" y="2011680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mengenal Android hingga membangun aplikasi yang menyimpan data di cloud.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24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" y="2624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9536" y="2779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3312" y="2734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Pengenalan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53312" y="3090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&amp; Android Studio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172200" y="2624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72200" y="2624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91656" y="2779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5432" y="2734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85432" y="3090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Activity, Intent, Fragment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40080" y="3767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" y="3767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9536" y="3922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53312" y="3877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353312" y="4233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dan interaksi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6172200" y="3767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172200" y="3767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91656" y="3922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5432" y="3877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task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85432" y="4233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Penjadwalan dan notifikasi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640080" y="4910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40080" y="4910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9536" y="5065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53312" y="5020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lokal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53312" y="5376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 &amp; SQLite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6172200" y="4910328"/>
            <a:ext cx="527608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172200" y="49103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91656" y="50657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5432" y="5020056"/>
            <a:ext cx="437997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885432" y="5376672"/>
            <a:ext cx="433425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dan sinkronisasi cloud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 •  PENGENALAN ANDROID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914400" lvl="2" indent="457200" algn="l">
              <a:buNone/>
            </a:pPr>
            <a:r>
              <a:rPr lang="en-US" sz="40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Pengenalan Android</a:t>
            </a:r>
            <a:endParaRPr lang="en-US" sz="4000" b="1" dirty="0">
              <a:solidFill>
                <a:srgbClr val="F4FA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 algn="ctr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platform, lingkungan pengembangan, instalasi, dan proyek aplikasi pertama.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itu Android?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8368" y="2011680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15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sistem operasi perangkat bergerak berbasis kernel Linux dan bersifat open source.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26426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2468880"/>
            <a:ext cx="9601200" cy="6949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 algn="l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Digunakan pada ponsel, tablet, TV, kendaraan, dan perangkat wearable.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3410712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0" y="3236976"/>
            <a:ext cx="9601200" cy="6949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 algn="l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Mendukung interaksi sentuh, sensor, konektivitas, dan beragam ukuran layar.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4178808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4005072"/>
            <a:ext cx="9601200" cy="6949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 algn="ctr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Lapisan platform: Linux Kernel, HAL, Android Runtime, pustaka native, Java API Framework, aplikasi sistem.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4946904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7280" y="4773168"/>
            <a:ext cx="9601200" cy="6949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 algn="ctr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 harus memperhatikan kompatibilitas, keamanan, performa, dan pengalaman pengguna.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– 1.4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Alat pengembangan &amp; proyek awal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67512" y="2340864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234086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249631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0744" y="2450592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80744" y="2807208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untuk mengembangkan program Java.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080760" y="2340864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80760" y="234086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0216" y="249631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3992" y="2450592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93992" y="2807208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untuk menulis, menjalankan, menguji, dan debug aplikasi.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67512" y="3575304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7512" y="3575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730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80744" y="3685032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SDK &amp; AVD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80744" y="4041648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Library, alat build, debugger, dan emulator Android.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080760" y="3575304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080760" y="3575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00216" y="3730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93992" y="3685032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proyek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793992" y="4041648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Manifest, kode Java, resource XML, dan Gradle.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758952" y="5230368"/>
            <a:ext cx="10241280" cy="7040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praktik: instal tools → buat proyek → atur layout XML → tulis Java → jalankan pada emulator / perangkat.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 •  KOMPONEN DASAR ANDROID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Dasar Android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457200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Activity, daur hidup, Intent, Fragment, dan komunikasi antar layar.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• KOMPONEN DASAR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&amp; siklus hidup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8368" y="2011680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mengelola satu layar dan interaksi pengguna.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" y="2606040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2743200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onCreate()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" y="3127248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inisialisasi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4256" y="2606040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5424" y="2743200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onStart()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35424" y="3127248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 terlihat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91856" y="2606040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93024" y="2743200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onResume()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93024" y="3127248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dapat berinteraksi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" y="3913632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" y="4050792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onPause()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7824" y="4434840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kehilangan fokus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34256" y="3913632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35424" y="4050792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onStop()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35424" y="4434840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terlihat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91856" y="3913632"/>
            <a:ext cx="3429000" cy="960120"/>
          </a:xfrm>
          <a:prstGeom prst="roundRect">
            <a:avLst>
              <a:gd name="adj" fmla="val 15238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193024" y="4050792"/>
            <a:ext cx="292608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onDestroy()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93024" y="4434840"/>
            <a:ext cx="29260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dibersihkan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52" y="5532120"/>
            <a:ext cx="100584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onRestart() dipanggil saat Activity yang berhenti kembali dijalankan.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• KOMPONEN DASAR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– 2.4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Intent, Fragment, pertukaran data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58368" y="2514600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8368" y="251460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267004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2624328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Intent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2980944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Memanggil Activity tertentu dalam aplikasi.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117336" y="2514600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17336" y="251460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36792" y="267004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0568" y="2624328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 Intent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30568" y="2980944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Meminta Android memilih aplikasi untuk suatu aksi.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58368" y="3721608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" y="372160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7824" y="387705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3831336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71600" y="4187952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UI modular dalam Activity; punya lifecycle.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117336" y="3721608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17336" y="372160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36792" y="387705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30568" y="3831336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Kirim data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830568" y="4187952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putExtra() dan ambil melalui getIntent().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749808" y="5285232"/>
            <a:ext cx="10058400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halaman daftar → halaman detail, sambil membawa ID atau nama item.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 •  ANTARMUKA &amp; PENGALAMAN PENGGUNA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Antarmuka &amp; Pengalaman Pengguna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tampilan yang mudah dipahami dan nyaman digunakan.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Fondasi UI/UX Android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67512" y="2395728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23957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25511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0744" y="2505456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&amp; ViewGroup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80744" y="2862072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TextView, Button, EditText; LinearLayout, ConstraintLayout, GridLayout.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144768" y="2395728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44768" y="2395728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64224" y="2551176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2505456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 pengguna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0" y="2862072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 klik, navigasi yang jelas, dan langkah yang efisien.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67512" y="3657600"/>
            <a:ext cx="5266944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7512" y="365760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81304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80744" y="3767328"/>
            <a:ext cx="43708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 &amp; Theme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80744" y="4123944"/>
            <a:ext cx="4325112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Konsistensi atribut tampilan dan tema aplikasi.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144768" y="3657600"/>
            <a:ext cx="5230368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44768" y="365760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64224" y="381304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767328"/>
            <a:ext cx="433425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858000" y="4123944"/>
            <a:ext cx="4288536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Menyesuaikan bahasa tampilan dengan pengaturan pengguna.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758952" y="5257800"/>
            <a:ext cx="100584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Toast menyampaikan umpan balik singkat yang hilang otomatis.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– 3.4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Interaksi, navigasi &amp; daftar data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822960" y="26426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2468880"/>
            <a:ext cx="9601200" cy="5852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 input: EditText, CheckBox, RadioButton, Switch, SeekBar, Spinner.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300984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7280" y="3127248"/>
            <a:ext cx="9601200" cy="5852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 dan picker: AlertDialog, DatePicker, dan TimePicker.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3959352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785616"/>
            <a:ext cx="9601200" cy="5852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Navigasi: tombol Back, navigasi hierarkis, dan Navigation Drawer.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617720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7280" y="4443984"/>
            <a:ext cx="9601200" cy="5852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Drawable, Image Asset Studio, dan Vector Asset Studio membantu menyiapkan ikon/grafis.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5276088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102352"/>
            <a:ext cx="9601200" cy="5852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RecyclerView menampilkan koleksi data secara fleksibel dan efisien dibanding ListView.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 •  BACKGROUND 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Task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Menjalankan pekerjaan terjadwal serta memberikan notifikasi kepada pengguna.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• BACKGROUND 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– 4.2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 vs JobScheduler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704088" y="2560320"/>
            <a:ext cx="5212080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4088" y="256032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3544" y="271576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670048"/>
            <a:ext cx="431596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3026664"/>
            <a:ext cx="4270248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Menjadwalkan aksi berdasarkan waktu; cocok untuk pengingat lokal.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117336" y="2560320"/>
            <a:ext cx="5212080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17336" y="2560320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36792" y="2715768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0568" y="2670048"/>
            <a:ext cx="431596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JobScheduler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30568" y="3026664"/>
            <a:ext cx="4270248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Menjalankan tugas saat syarat JobInfo terpenuhi; lebih hemat sumber daya.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04672" y="4169664"/>
            <a:ext cx="1024128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 dapat bekerja di luar lifecycle aplikasi; alarm umumnya perlu diatur ulang setelah reboot.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04672" y="5010912"/>
            <a:ext cx="1024128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JobScheduler menggunakan JobInfo dan JobService; tersedia mulai API 21 pada modul.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• BACKGROUND 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pada Android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8368" y="2011680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aplikasi di luar tampilan utama; terlihat pada status bar dan notification drawer.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26426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2468880"/>
            <a:ext cx="960120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NotificationManager mengirim dan mengelola notifikasi.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328269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0" y="3108960"/>
            <a:ext cx="960120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NotificationCompat.Builder mengatur ikon, judul, isi, prioritas, serta aksi.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392277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3749040"/>
            <a:ext cx="960120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NotificationChannel digunakan pada Android 8.0 (API 26) ke atas.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456285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7280" y="4389120"/>
            <a:ext cx="960120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PendingIntent memungkinkan notifikasi membuka Activity tertentu.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20293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97280" y="5029200"/>
            <a:ext cx="960120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Notifikasi dapat dikirim, diperbarui, atau dibatalkan sesuai kebutuhan.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 •  PENYIMPANAN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Data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Menyimpan data aplikasi dengan mekanisme lokal yang sesuai kebutuhan.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• PENYIMPANAN LOKAL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– 5.2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penyimpanan dan preferensi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67512" y="2478024"/>
            <a:ext cx="5248656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247802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263347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0744" y="2587752"/>
            <a:ext cx="4352544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Storage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80744" y="2944368"/>
            <a:ext cx="430682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privat aplikasi dalam penyimpanan perangkat.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126480" y="2478024"/>
            <a:ext cx="5248656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26480" y="247802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45936" y="263347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9712" y="2587752"/>
            <a:ext cx="4352544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Storage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39712" y="2944368"/>
            <a:ext cx="430682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yang dapat dibagikan atau diakses di luar ruang privat aplikasi.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67512" y="3694176"/>
            <a:ext cx="5248656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7512" y="3694176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849624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80744" y="3803904"/>
            <a:ext cx="4352544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80744" y="4160520"/>
            <a:ext cx="430682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sederhana berupa pasangan key–value.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126480" y="3694176"/>
            <a:ext cx="5248656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26480" y="3694176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45936" y="3849624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39712" y="3803904"/>
            <a:ext cx="4352544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Instance State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839712" y="4160520"/>
            <a:ext cx="430682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Membantu mempertahankan keadaan UI saat Activity dibuat ulang.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758952" y="5202936"/>
            <a:ext cx="1033272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SharedPreferences: edit() → putString()/putInt() → apply() atau commit(); baca dengan getString()/getInt().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• PENYIMPANAN LOKAL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Database &amp; CRUD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822960" y="26426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2468880"/>
            <a:ext cx="96012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merupakan basis data relasional lokal yang digunakan di Android.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7280" y="3145536"/>
            <a:ext cx="96012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SQLiteOpenHelper membantu membuat serta mengelola versi database.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3995928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822192"/>
            <a:ext cx="96012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onCreate() dapat menjalankan perintah SQL pembentukan tabel.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672584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7280" y="4498848"/>
            <a:ext cx="96012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CRUD: Create (tambah), Read (baca), Update (ubah), Delete (hapus).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175504"/>
            <a:ext cx="96012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modul: aplikasi biodata yang menyimpan, menampilkan, memperbarui, dan menghapus data.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 •  FIREBASE REALTIME 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216152"/>
            <a:ext cx="731520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06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" y="1874520"/>
            <a:ext cx="8183880" cy="1344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Realtime Database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3685032"/>
            <a:ext cx="781812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eksternal berbasis cloud dan aplikasi agenda dengan fitur CRUD.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2057400" cy="3931920"/>
          </a:xfrm>
          <a:prstGeom prst="roundRect">
            <a:avLst>
              <a:gd name="adj" fmla="val 13333"/>
            </a:avLst>
          </a:prstGeom>
          <a:solidFill>
            <a:srgbClr val="291C19"/>
          </a:solidFill>
          <a:ln w="12700">
            <a:solidFill>
              <a:srgbClr val="C98B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392" y="1572768"/>
            <a:ext cx="1819656" cy="3511296"/>
          </a:xfrm>
          <a:prstGeom prst="roundRect">
            <a:avLst>
              <a:gd name="adj" fmla="val 10050"/>
            </a:avLst>
          </a:prstGeom>
          <a:solidFill>
            <a:srgbClr val="F9EEDC"/>
          </a:solidFill>
          <a:ln w="12700">
            <a:solidFill>
              <a:srgbClr val="F9EED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14332" y="1453896"/>
            <a:ext cx="493776" cy="45720"/>
          </a:xfrm>
          <a:prstGeom prst="roundRect">
            <a:avLst>
              <a:gd name="adj" fmla="val 320000"/>
            </a:avLst>
          </a:prstGeom>
          <a:solidFill>
            <a:srgbClr val="BFA58B"/>
          </a:solidFill>
          <a:ln w="12700">
            <a:solidFill>
              <a:srgbClr val="BFA5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06840" y="1865376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06840" y="26060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840" y="3520440"/>
            <a:ext cx="1508760" cy="265176"/>
          </a:xfrm>
          <a:prstGeom prst="roundRect">
            <a:avLst>
              <a:gd name="adj" fmla="val 55172"/>
            </a:avLst>
          </a:prstGeom>
          <a:solidFill>
            <a:srgbClr val="E8D5BD"/>
          </a:solidFill>
          <a:ln w="12700">
            <a:solidFill>
              <a:srgbClr val="E8D5B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4297680"/>
            <a:ext cx="1508760" cy="512064"/>
          </a:xfrm>
          <a:prstGeom prst="roundRect">
            <a:avLst>
              <a:gd name="adj" fmla="val 28571"/>
            </a:avLst>
          </a:prstGeom>
          <a:solidFill>
            <a:srgbClr val="C98B52"/>
          </a:solidFill>
          <a:ln w="12700">
            <a:solidFill>
              <a:srgbClr val="C98B52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• FIREBASE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Firebase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8368" y="2011680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Layanan backend/cloud yang terhubung ke aplikasi Android.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26426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2468880"/>
            <a:ext cx="960120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Realtime Database merupakan database NoSQL berbasis JSON.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33284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0" y="3154680"/>
            <a:ext cx="960120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disinkronkan kepada klien yang terhubung secara realtime.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40142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3840480"/>
            <a:ext cx="960120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Mendukung kerja offline dan sinkronisasi ulang saat tersambung.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47000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7280" y="4526280"/>
            <a:ext cx="960120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Konfigurasi dilakukan melalui Firebase Console dan integrasi Firebase SDK.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385816"/>
            <a:ext cx="91440" cy="91440"/>
          </a:xfrm>
          <a:prstGeom prst="ellipse">
            <a:avLst/>
          </a:prstGeom>
          <a:solidFill>
            <a:srgbClr val="D6A56B"/>
          </a:solidFill>
          <a:ln w="12700">
            <a:solidFill>
              <a:srgbClr val="D6A5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97280" y="5212080"/>
            <a:ext cx="960120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Aturan akses database harus dibatasi; aturan read/write publik tidak aman.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• FIREBASE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aplikasi agenda CRUD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76656" y="2432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76656" y="2432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6112" y="2587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9888" y="2542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proyek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89888" y="2898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Console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190488" y="2432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90488" y="2432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9944" y="2587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542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Hubungkan aplikasi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3720" y="2898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Daftarkan package &amp; SDK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76656" y="3575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6656" y="3575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96112" y="3730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89888" y="3685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referensi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89888" y="4041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FirebaseDatabase / DatabaseReference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190488" y="3575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90488" y="3575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9944" y="3730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3685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&amp; Update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03720" y="4041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push(), child(), setValue()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676656" y="4718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76656" y="4718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96112" y="4873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89888" y="4828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389888" y="5184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ValueEventListener / onDataChange()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190488" y="4718304"/>
            <a:ext cx="5239512" cy="1024128"/>
          </a:xfrm>
          <a:prstGeom prst="roundRect">
            <a:avLst>
              <a:gd name="adj" fmla="val 14286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190488" y="4718304"/>
            <a:ext cx="68580" cy="1024128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9944" y="4873752"/>
            <a:ext cx="39319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3720" y="4828032"/>
            <a:ext cx="434340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903720" y="5184648"/>
            <a:ext cx="42976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Hapus data berdasar ID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MATERI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AKHIR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Hubungan enam bab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777240" y="2578608"/>
            <a:ext cx="237744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&amp; alat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990088" y="2578608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98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02736" y="2578608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&amp; UI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2578608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98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22592" y="2578608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&amp; data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31520" y="3355848"/>
            <a:ext cx="10625328" cy="1481328"/>
          </a:xfrm>
          <a:prstGeom prst="roundRect">
            <a:avLst>
              <a:gd name="adj" fmla="val 9877"/>
            </a:avLst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69848" y="3657600"/>
            <a:ext cx="98755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pembelajaran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9848" y="4133088"/>
            <a:ext cx="978408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Mampu merancang aplikasi Android dengan navigasi, antarmuka interaktif, penjadwalan, notifikasi, penyimpanan lokal, dan database cloud.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6A56B"/>
          </a:solidFill>
          <a:ln w="12700">
            <a:solidFill>
              <a:srgbClr val="D6A5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67160" y="91440"/>
            <a:ext cx="621792" cy="6766560"/>
          </a:xfrm>
          <a:prstGeom prst="rect">
            <a:avLst/>
          </a:prstGeom>
          <a:solidFill>
            <a:srgbClr val="493024"/>
          </a:solidFill>
          <a:ln w="12700">
            <a:solidFill>
              <a:srgbClr val="4930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695176" y="36576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95176" y="117043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95176" y="197510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2779776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95176" y="3584448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95176" y="4389120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5193792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695176" y="5998464"/>
            <a:ext cx="91440" cy="91440"/>
          </a:xfrm>
          <a:prstGeom prst="ellipse">
            <a:avLst/>
          </a:prstGeom>
          <a:solidFill>
            <a:srgbClr val="D6A56B">
              <a:alpha val="45000"/>
            </a:srgbClr>
          </a:solidFill>
          <a:ln w="12700">
            <a:solidFill>
              <a:srgbClr val="D6A56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6382512"/>
            <a:ext cx="82296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REFERENSI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52760" y="631850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777240"/>
            <a:ext cx="914400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REFERENSI UTAMA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207008"/>
            <a:ext cx="10424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seluruh ringkasan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822960" y="2569464"/>
            <a:ext cx="10058400" cy="7040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4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Susanti, Erma. (2020). Pemrograman Mobile Android dengan Java. Modul 1–6.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3694176"/>
            <a:ext cx="1005840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1: Pengenalan • Bab 2: Komponen Dasar Aplikasi Android • Bab 3: UI/UX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197096"/>
            <a:ext cx="1005840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FA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4: Background Task • Bab 5: Penyimpanan Data • Bab 6: Firebase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193792"/>
            <a:ext cx="100584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6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contoh API dan konfigurasi mengikuti materi modul terbitan 2020.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7759</Words>
  <Application>WPS Presentation</Application>
  <PresentationFormat>On-screen Show (16:9)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Pemrograman Mobile Android Bab 1-6</dc:title>
  <dc:creator>Ringkasan modul Erma Susanti (2020)</dc:creator>
  <dc:subject>Pemrograman Mobile Android dengan Java Bab 1-6</dc:subject>
  <cp:lastModifiedBy>WPS_1787812656</cp:lastModifiedBy>
  <cp:revision>2</cp:revision>
  <dcterms:created xsi:type="dcterms:W3CDTF">2026-10-24T03:03:00Z</dcterms:created>
  <dcterms:modified xsi:type="dcterms:W3CDTF">2026-10-24T03:25:43Z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C31ADC14DF59413685BE75225EED1DAA_13</vt:lpwstr>
  </property>
</Properties>
</file>